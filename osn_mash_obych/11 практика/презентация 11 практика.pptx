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-31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8431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74878"/>
                </a:solidFill>
                <a:latin typeface="Arial"/>
              </a:defRPr>
            </a:pPr>
            <a:r>
              <a:rPr dirty="0" err="1"/>
              <a:t>Практическая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№11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62D"/>
                </a:solidFill>
                <a:latin typeface="Arial"/>
              </a:defRPr>
            </a:pPr>
            <a:r>
              <a:t>Анализ и сегментация клиентов</a:t>
            </a:r>
            <a:br/>
            <a:r>
              <a:t>с помощью алгоритмов кластеризации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33984"/>
            <a:ext cx="27786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973"/>
                </a:solidFill>
                <a:latin typeface="Arial"/>
              </a:defRPr>
            </a:pPr>
            <a:r>
              <a:rPr lang="ru-RU" dirty="0" smtClean="0"/>
              <a:t>Выполнил: Плесовских А.А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4623875"/>
            <a:ext cx="28318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973"/>
                </a:solidFill>
                <a:latin typeface="Arial"/>
              </a:defRPr>
            </a:pPr>
            <a:r>
              <a:rPr lang="ru-RU" dirty="0" smtClean="0"/>
              <a:t>Группа: 2024-ФГИИБ-ПИ-1б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5034108"/>
            <a:ext cx="31992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973"/>
                </a:solidFill>
                <a:latin typeface="Arial"/>
              </a:defRPr>
            </a:pPr>
            <a:r>
              <a:rPr lang="ru-RU" dirty="0" smtClean="0"/>
              <a:t>Преподаватель: Стрельцов А.С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262D"/>
                </a:solidFill>
                <a:latin typeface="Arial"/>
              </a:defRPr>
            </a:pPr>
            <a:r>
              <a:t>1. Цель и исходные данные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481328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41247" y="1901952"/>
            <a:ext cx="493775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rPr dirty="0" err="1"/>
              <a:t>Разделить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dirty="0" err="1"/>
              <a:t>розничной</a:t>
            </a:r>
            <a:r>
              <a:rPr dirty="0"/>
              <a:t> </a:t>
            </a:r>
            <a:r>
              <a:rPr dirty="0" err="1"/>
              <a:t>компании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схожим</a:t>
            </a:r>
            <a:r>
              <a:rPr dirty="0"/>
              <a:t> </a:t>
            </a:r>
            <a:r>
              <a:rPr dirty="0" err="1"/>
              <a:t>поведением</a:t>
            </a:r>
            <a:r>
              <a:rPr dirty="0"/>
              <a:t> и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сегменты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точной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с </a:t>
            </a:r>
            <a:r>
              <a:rPr dirty="0" err="1"/>
              <a:t>клиентами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73152" cy="182880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481328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Датасет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901952"/>
            <a:ext cx="493775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Online Retail II. Анализ строится по истории транзакций: клиент, заказ, товар, количество, цена и дата покупки.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73152" cy="19202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63016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Основные показатели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050791"/>
            <a:ext cx="30632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Объём продаж</a:t>
            </a:r>
            <a:br/>
            <a:r>
              <a:t>Частота покупок</a:t>
            </a:r>
            <a:br/>
            <a:r>
              <a:t>Выручка по товарам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4747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3474720"/>
            <a:ext cx="73152" cy="19202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363016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Что ищем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4050791"/>
            <a:ext cx="30632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Тенденции</a:t>
            </a:r>
            <a:br/>
            <a:r>
              <a:t>Аномалии</a:t>
            </a:r>
            <a:br/>
            <a:r>
              <a:t>Похожие группы клиентов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4747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3474720"/>
            <a:ext cx="73152" cy="19202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9328" y="363016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Итог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4050791"/>
            <a:ext cx="30632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Осмысленные сегменты</a:t>
            </a:r>
            <a:br/>
            <a:r>
              <a:t>и рекомендации для бизнеса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262D"/>
                </a:solidFill>
                <a:latin typeface="Arial"/>
              </a:defRPr>
            </a:pPr>
            <a:r>
              <a:t>2. Методология работы</a:t>
            </a:r>
          </a:p>
        </p:txBody>
      </p:sp>
      <p:sp>
        <p:nvSpPr>
          <p:cNvPr id="3" name="Oval 2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0262D"/>
                </a:solidFill>
                <a:latin typeface="Arial"/>
              </a:defRPr>
            </a:pPr>
            <a: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6060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973"/>
                </a:solidFill>
                <a:latin typeface="Arial"/>
              </a:defRPr>
            </a:pPr>
            <a:r>
              <a:t>Структура данных,</a:t>
            </a:r>
            <a:br/>
            <a:r>
              <a:t>пропуски и распределения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1664208"/>
            <a:ext cx="1234440" cy="27432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14600" y="1417320"/>
            <a:ext cx="502920" cy="502920"/>
          </a:xfrm>
          <a:prstGeom prst="ellipse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0262D"/>
                </a:solidFill>
                <a:latin typeface="Arial"/>
              </a:defRPr>
            </a:pPr>
            <a:r>
              <a:t>Предобработка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060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973"/>
                </a:solidFill>
                <a:latin typeface="Arial"/>
              </a:defRPr>
            </a:pPr>
            <a:r>
              <a:t>Очистка, выбросы,</a:t>
            </a:r>
            <a:br/>
            <a:r>
              <a:t>подготовка признаков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0672" y="1664208"/>
            <a:ext cx="1234440" cy="27432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34840" y="1417320"/>
            <a:ext cx="502920" cy="502920"/>
          </a:xfrm>
          <a:prstGeom prst="ellipse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0116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0262D"/>
                </a:solidFill>
                <a:latin typeface="Arial"/>
              </a:defRPr>
            </a:pPr>
            <a:r>
              <a:t>RFM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6060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973"/>
                </a:solidFill>
                <a:latin typeface="Arial"/>
              </a:defRPr>
            </a:pPr>
            <a:r>
              <a:t>Recency, Frequency,</a:t>
            </a:r>
            <a:br/>
            <a:r>
              <a:t>Monetary + средний чек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0912" y="1664208"/>
            <a:ext cx="1234440" cy="27432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116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0262D"/>
                </a:solidFill>
                <a:latin typeface="Arial"/>
              </a:defRPr>
            </a:pPr>
            <a:r>
              <a:t>Масштабирование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060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973"/>
                </a:solidFill>
                <a:latin typeface="Arial"/>
              </a:defRPr>
            </a:pPr>
            <a:r>
              <a:t>StandardScaler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1152" y="1664208"/>
            <a:ext cx="1234440" cy="27432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75320" y="1417320"/>
            <a:ext cx="502920" cy="502920"/>
          </a:xfrm>
          <a:prstGeom prst="ellipse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0262D"/>
                </a:solidFill>
                <a:latin typeface="Arial"/>
              </a:defRPr>
            </a:pPr>
            <a:r>
              <a:t>Кластеризация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060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973"/>
                </a:solidFill>
                <a:latin typeface="Arial"/>
              </a:defRPr>
            </a:pPr>
            <a:r>
              <a:t>K-Means, иерархическая,</a:t>
            </a:r>
            <a:br/>
            <a:r>
              <a:t>DBSCAN, OPTICS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51392" y="1664208"/>
            <a:ext cx="1234440" cy="27432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195560" y="1417320"/>
            <a:ext cx="502920" cy="502920"/>
          </a:xfrm>
          <a:prstGeom prst="ellipse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0116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0262D"/>
                </a:solidFill>
                <a:latin typeface="Arial"/>
              </a:defRPr>
            </a:pPr>
            <a:r>
              <a:t>Интерпретация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6060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06973"/>
                </a:solidFill>
                <a:latin typeface="Arial"/>
              </a:defRPr>
            </a:pPr>
            <a:r>
              <a:t>Метрики, PCA,</a:t>
            </a:r>
            <a:br/>
            <a:r>
              <a:t>дендрограмма, сегменты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262D"/>
                </a:solidFill>
                <a:latin typeface="Arial"/>
              </a:defRPr>
            </a:pPr>
            <a:r>
              <a:t>3. Предобработка и RFM-признаки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0262D"/>
                </a:solidFill>
                <a:latin typeface="Arial"/>
              </a:defRPr>
            </a:pPr>
            <a:r>
              <a:t>Удалены записи без идентификатора клиента.</a:t>
            </a:r>
          </a:p>
          <a:p>
            <a:pPr>
              <a:spcAft>
                <a:spcPts val="1000"/>
              </a:spcAft>
              <a:defRPr sz="1700">
                <a:solidFill>
                  <a:srgbClr val="20262D"/>
                </a:solidFill>
                <a:latin typeface="Arial"/>
              </a:defRPr>
            </a:pPr>
            <a:r>
              <a:t>Исключены отменённые заказы и некорректные значения Quantity и Price.</a:t>
            </a:r>
          </a:p>
          <a:p>
            <a:pPr>
              <a:spcAft>
                <a:spcPts val="1000"/>
              </a:spcAft>
              <a:defRPr sz="1700">
                <a:solidFill>
                  <a:srgbClr val="20262D"/>
                </a:solidFill>
                <a:latin typeface="Arial"/>
              </a:defRPr>
            </a:pPr>
            <a:r>
              <a:t>Для уменьшения влияния выбросов использовано ограничение по 99-му процентилю.</a:t>
            </a:r>
          </a:p>
          <a:p>
            <a:pPr>
              <a:spcAft>
                <a:spcPts val="1000"/>
              </a:spcAft>
              <a:defRPr sz="1700">
                <a:solidFill>
                  <a:srgbClr val="20262D"/>
                </a:solidFill>
                <a:latin typeface="Arial"/>
              </a:defRPr>
            </a:pPr>
            <a:r>
              <a:t>Для клиента рассчитаны Recency, Frequency, Monetary и средний чек.</a:t>
            </a:r>
          </a:p>
          <a:p>
            <a:pPr>
              <a:spcAft>
                <a:spcPts val="1000"/>
              </a:spcAft>
              <a:defRPr sz="1700">
                <a:solidFill>
                  <a:srgbClr val="20262D"/>
                </a:solidFill>
                <a:latin typeface="Arial"/>
              </a:defRPr>
            </a:pPr>
            <a:r>
              <a:t>После этого признаки стандартизированы с помощью StandardScaler.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1417320"/>
            <a:ext cx="4663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086600" y="1719072"/>
            <a:ext cx="640080" cy="640080"/>
          </a:xfrm>
          <a:prstGeom prst="ellipse">
            <a:avLst/>
          </a:prstGeom>
          <a:solidFill>
            <a:srgbClr val="DEE9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74878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1700784"/>
            <a:ext cx="29718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62D"/>
                </a:solidFill>
                <a:latin typeface="Arial"/>
              </a:defRPr>
            </a:pPr>
            <a:r>
              <a:t>Recency — давность</a:t>
            </a:r>
            <a:br/>
            <a:r>
              <a:t>последней покупки</a:t>
            </a:r>
          </a:p>
        </p:txBody>
      </p:sp>
      <p:sp>
        <p:nvSpPr>
          <p:cNvPr id="7" name="Oval 6"/>
          <p:cNvSpPr/>
          <p:nvPr/>
        </p:nvSpPr>
        <p:spPr>
          <a:xfrm>
            <a:off x="7086600" y="2615184"/>
            <a:ext cx="640080" cy="640080"/>
          </a:xfrm>
          <a:prstGeom prst="ellipse">
            <a:avLst/>
          </a:prstGeom>
          <a:solidFill>
            <a:srgbClr val="DEE9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74878"/>
                </a:solidFill>
                <a:latin typeface="Arial"/>
              </a:defRPr>
            </a:pPr>
            <a: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596896"/>
            <a:ext cx="29718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62D"/>
                </a:solidFill>
                <a:latin typeface="Arial"/>
              </a:defRPr>
            </a:pPr>
            <a:r>
              <a:t>Frequency — частота</a:t>
            </a:r>
            <a:br/>
            <a:r>
              <a:t>покупок</a:t>
            </a:r>
          </a:p>
        </p:txBody>
      </p:sp>
      <p:sp>
        <p:nvSpPr>
          <p:cNvPr id="9" name="Oval 8"/>
          <p:cNvSpPr/>
          <p:nvPr/>
        </p:nvSpPr>
        <p:spPr>
          <a:xfrm>
            <a:off x="7086600" y="3511296"/>
            <a:ext cx="640080" cy="640080"/>
          </a:xfrm>
          <a:prstGeom prst="ellipse">
            <a:avLst/>
          </a:prstGeom>
          <a:solidFill>
            <a:srgbClr val="DEE9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74878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493008"/>
            <a:ext cx="29718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62D"/>
                </a:solidFill>
                <a:latin typeface="Arial"/>
              </a:defRPr>
            </a:pPr>
            <a:r>
              <a:t>Monetary — сумма</a:t>
            </a:r>
            <a:br/>
            <a:r>
              <a:t>покупок</a:t>
            </a:r>
          </a:p>
        </p:txBody>
      </p:sp>
      <p:sp>
        <p:nvSpPr>
          <p:cNvPr id="11" name="Oval 10"/>
          <p:cNvSpPr/>
          <p:nvPr/>
        </p:nvSpPr>
        <p:spPr>
          <a:xfrm>
            <a:off x="7086600" y="4407408"/>
            <a:ext cx="640080" cy="640080"/>
          </a:xfrm>
          <a:prstGeom prst="ellipse">
            <a:avLst/>
          </a:prstGeom>
          <a:solidFill>
            <a:srgbClr val="DEE9F7"/>
          </a:solidFill>
          <a:ln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74878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389120"/>
            <a:ext cx="29718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62D"/>
                </a:solidFill>
                <a:latin typeface="Arial"/>
              </a:defRPr>
            </a:pPr>
            <a:r>
              <a:t>avg_check — средний</a:t>
            </a:r>
            <a:br/>
            <a:r>
              <a:t>чек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262D"/>
                </a:solidFill>
                <a:latin typeface="Arial"/>
              </a:defRPr>
            </a:pPr>
            <a:r>
              <a:t>4. Алгоритмы кластеризации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48132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01952"/>
            <a:ext cx="48920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Разбивает клиентов на заданное число кластеров. Для выбора k использованы метод локтя и коэффициент силуэта.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73152" cy="150876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48132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Иерархическая кластеризация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01952"/>
            <a:ext cx="48920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Позволяет увидеть, как отдельные объекты и группы объединяются в более крупные кластеры.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200400"/>
            <a:ext cx="73152" cy="150876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35584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DBSCAN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776472"/>
            <a:ext cx="48920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Ищет группы по плотности данных и может выделять объекты, которые не относятся к обычным кластерам.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004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73152" cy="150876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35584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OPTICS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776472"/>
            <a:ext cx="48920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Похож на DBSCAN, но позволяет работать с кластерами разной плотности и также выделять выбросы.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262D"/>
                </a:solidFill>
                <a:latin typeface="Arial"/>
              </a:defRPr>
            </a:pPr>
            <a:r>
              <a:t>5. Оценка качества кластеризации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35204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48132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Silhouette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01952"/>
            <a:ext cx="315468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Показывает, насколько объект близок к своему кластеру и отделён от других.</a:t>
            </a:r>
            <a:br/>
            <a:r>
              <a:t/>
            </a:r>
            <a:br/>
            <a:r>
              <a:t>Чем выше значение, тем лучше разделение.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35204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48132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Davies–Bouldin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01952"/>
            <a:ext cx="315468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Оценивает похожесть кластеров между собой.</a:t>
            </a:r>
            <a:br/>
            <a:r>
              <a:t/>
            </a:r>
            <a:br/>
            <a:r>
              <a:t>Чем меньше значение, тем лучше.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5204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148132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Calinski–Harabasz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901952"/>
            <a:ext cx="315468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Сравнивает межкластерный и внутрикластерный разброс.</a:t>
            </a:r>
            <a:br/>
            <a:r>
              <a:t/>
            </a:r>
            <a:br/>
            <a:r>
              <a:t>Чем выше значение, тем лучше выражена структура.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0262D"/>
                </a:solidFill>
                <a:latin typeface="Arial"/>
              </a:defRPr>
            </a:pPr>
            <a:r>
              <a:t>ARI и NMI в этой работе не используются как основные, потому что истинных меток сегментов клиентов нет.</a:t>
            </a:r>
          </a:p>
          <a:p>
            <a:pPr>
              <a:spcAft>
                <a:spcPts val="1000"/>
              </a:spcAft>
              <a:defRPr sz="1300">
                <a:solidFill>
                  <a:srgbClr val="20262D"/>
                </a:solidFill>
                <a:latin typeface="Arial"/>
              </a:defRPr>
            </a:pPr>
            <a:r>
              <a:t>Итоговое сравнение проводится сразу по нескольким внутренним метрикам.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262D"/>
                </a:solidFill>
                <a:latin typeface="Arial"/>
              </a:defRPr>
            </a:pPr>
            <a:r>
              <a:t>6. Визуализация результатов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490472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62D"/>
                </a:solidFill>
                <a:latin typeface="Arial"/>
              </a:defRPr>
            </a:pPr>
            <a:r>
              <a:t>PCA: кластеры в 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160520"/>
            <a:ext cx="283463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06973"/>
                </a:solidFill>
                <a:latin typeface="Arial"/>
              </a:defRPr>
            </a:pPr>
            <a:r>
              <a:rPr dirty="0" err="1"/>
              <a:t>Скриншот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 PCA</a:t>
            </a:r>
            <a:br>
              <a:rPr dirty="0"/>
            </a:b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выполненной</a:t>
            </a:r>
            <a:r>
              <a:rPr dirty="0"/>
              <a:t> </a:t>
            </a:r>
            <a:r>
              <a:rPr dirty="0" err="1"/>
              <a:t>практики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1490472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62D"/>
                </a:solidFill>
                <a:latin typeface="Arial"/>
              </a:defRPr>
            </a:pPr>
            <a:r>
              <a:t>Дендрограмма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160520"/>
            <a:ext cx="283463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06973"/>
                </a:solidFill>
                <a:latin typeface="Arial"/>
              </a:defRPr>
            </a:pPr>
            <a:r>
              <a:t>Скриншот результата</a:t>
            </a:r>
            <a:br/>
            <a:r>
              <a:t>иерархической кластеризации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3258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20" y="1490472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62D"/>
                </a:solidFill>
                <a:latin typeface="Arial"/>
              </a:defRPr>
            </a:pPr>
            <a:r>
              <a:t>Boxplot признаков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60520"/>
            <a:ext cx="283463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06973"/>
                </a:solidFill>
                <a:latin typeface="Arial"/>
              </a:defRPr>
            </a:pPr>
            <a:r>
              <a:t>Скриншот сравнения</a:t>
            </a:r>
            <a:br/>
            <a:r>
              <a:t>RFM-признаков по сегментам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1026" name="Picture 2" descr="C:\Users\pasha\OneDrive\Рабочий стол\11 практика\outpu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090" y="2037583"/>
            <a:ext cx="2506132" cy="197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pasha\OneDrive\Рабочий стол\11 практика\output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241" y="1995768"/>
            <a:ext cx="3045279" cy="2061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pasha\OneDrive\Рабочий стол\11 практика\output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938" y="1905128"/>
            <a:ext cx="3226283" cy="215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262D"/>
                </a:solidFill>
                <a:latin typeface="Arial"/>
              </a:defRPr>
            </a:pPr>
            <a:r>
              <a:t>7. Полученные сегменты клиентов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481328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Лояльные клиенты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01952"/>
            <a:ext cx="4937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Покупают достаточно часто, давно взаимодействуют с компанией и имеют заметный объём покупок.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73152" cy="141732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481328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Клиенты со сниженной активностью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901952"/>
            <a:ext cx="4937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Последняя покупка была давно или частота покупок ниже.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063240"/>
            <a:ext cx="73152" cy="141732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218688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Клиенты с крупными покупками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639312"/>
            <a:ext cx="4937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Высокая суммарная стоимость покупок или высокий средний чек.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06324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3063240"/>
            <a:ext cx="73152" cy="141732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218688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Обычные клиенты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639312"/>
            <a:ext cx="4937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Не имеют ярко выраженных признаков остальных сегментов.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262D"/>
                </a:solidFill>
                <a:latin typeface="Arial"/>
              </a:defRPr>
            </a:pPr>
            <a:r>
              <a:t>8. Бизнес-рекомендации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62D"/>
                </a:solidFill>
                <a:latin typeface="Arial"/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лояльных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lang="ru-RU" dirty="0" smtClean="0"/>
              <a:t>-</a:t>
            </a:r>
            <a:r>
              <a:rPr dirty="0" smtClean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лояльности</a:t>
            </a:r>
            <a:r>
              <a:rPr dirty="0"/>
              <a:t> и </a:t>
            </a:r>
            <a:r>
              <a:rPr dirty="0" err="1"/>
              <a:t>персональные</a:t>
            </a:r>
            <a:r>
              <a:rPr dirty="0"/>
              <a:t> </a:t>
            </a:r>
            <a:r>
              <a:rPr dirty="0" err="1"/>
              <a:t>предложения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0262D"/>
                </a:solidFill>
                <a:latin typeface="Arial"/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сниженной</a:t>
            </a:r>
            <a:r>
              <a:rPr dirty="0"/>
              <a:t> </a:t>
            </a:r>
            <a:r>
              <a:rPr dirty="0" err="1"/>
              <a:t>активностью</a:t>
            </a:r>
            <a:r>
              <a:rPr dirty="0"/>
              <a:t> </a:t>
            </a:r>
            <a:r>
              <a:rPr lang="ru-RU" dirty="0" smtClean="0"/>
              <a:t>-</a:t>
            </a:r>
            <a:r>
              <a:rPr dirty="0" smtClean="0"/>
              <a:t> </a:t>
            </a:r>
            <a:r>
              <a:rPr dirty="0" err="1"/>
              <a:t>напоминания</a:t>
            </a:r>
            <a:r>
              <a:rPr dirty="0"/>
              <a:t>, </a:t>
            </a:r>
            <a:r>
              <a:rPr dirty="0" err="1"/>
              <a:t>скидки</a:t>
            </a:r>
            <a:r>
              <a:rPr dirty="0"/>
              <a:t> и </a:t>
            </a:r>
            <a:r>
              <a:rPr dirty="0" err="1"/>
              <a:t>предложения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возвращения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0262D"/>
                </a:solidFill>
                <a:latin typeface="Arial"/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с </a:t>
            </a:r>
            <a:r>
              <a:rPr dirty="0" err="1"/>
              <a:t>крупными</a:t>
            </a:r>
            <a:r>
              <a:rPr dirty="0"/>
              <a:t> </a:t>
            </a:r>
            <a:r>
              <a:rPr dirty="0" err="1"/>
              <a:t>покупками</a:t>
            </a:r>
            <a:r>
              <a:rPr dirty="0"/>
              <a:t> </a:t>
            </a:r>
            <a:r>
              <a:rPr lang="ru-RU" dirty="0" smtClean="0"/>
              <a:t>-</a:t>
            </a:r>
            <a:r>
              <a:rPr dirty="0" smtClean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товары</a:t>
            </a:r>
            <a:r>
              <a:rPr dirty="0"/>
              <a:t> и </a:t>
            </a:r>
            <a:r>
              <a:rPr dirty="0" err="1"/>
              <a:t>персональные</a:t>
            </a:r>
            <a:r>
              <a:rPr dirty="0"/>
              <a:t> </a:t>
            </a:r>
            <a:r>
              <a:rPr dirty="0" err="1"/>
              <a:t>предложения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0262D"/>
                </a:solidFill>
                <a:latin typeface="Arial"/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обычных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lang="ru-RU" dirty="0" smtClean="0"/>
              <a:t>-</a:t>
            </a:r>
            <a:r>
              <a:rPr dirty="0" smtClean="0"/>
              <a:t>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акции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увеличения</a:t>
            </a:r>
            <a:r>
              <a:rPr dirty="0"/>
              <a:t> </a:t>
            </a:r>
            <a:r>
              <a:rPr dirty="0" err="1"/>
              <a:t>частоты</a:t>
            </a:r>
            <a:r>
              <a:rPr dirty="0"/>
              <a:t> </a:t>
            </a:r>
            <a:r>
              <a:rPr dirty="0" err="1"/>
              <a:t>покупок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0262D"/>
                </a:solidFill>
                <a:latin typeface="Arial"/>
              </a:defRPr>
            </a:pP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сегментации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постоянного</a:t>
            </a:r>
            <a:r>
              <a:rPr dirty="0"/>
              <a:t> </a:t>
            </a:r>
            <a:r>
              <a:rPr dirty="0" err="1"/>
              <a:t>контроля</a:t>
            </a:r>
            <a:r>
              <a:rPr dirty="0"/>
              <a:t> </a:t>
            </a:r>
            <a:r>
              <a:rPr dirty="0" err="1"/>
              <a:t>размера</a:t>
            </a:r>
            <a:r>
              <a:rPr dirty="0"/>
              <a:t> </a:t>
            </a:r>
            <a:r>
              <a:rPr dirty="0" err="1"/>
              <a:t>сегментов</a:t>
            </a:r>
            <a:r>
              <a:rPr dirty="0"/>
              <a:t>, </a:t>
            </a:r>
            <a:r>
              <a:rPr dirty="0" err="1"/>
              <a:t>среднего</a:t>
            </a:r>
            <a:r>
              <a:rPr dirty="0"/>
              <a:t> </a:t>
            </a:r>
            <a:r>
              <a:rPr dirty="0" err="1"/>
              <a:t>чека</a:t>
            </a:r>
            <a:r>
              <a:rPr dirty="0"/>
              <a:t> и </a:t>
            </a:r>
            <a:r>
              <a:rPr dirty="0" err="1"/>
              <a:t>активности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262D"/>
                </a:solidFill>
                <a:latin typeface="Arial"/>
              </a:defRPr>
            </a:pPr>
            <a:r>
              <a:t>9. Заключение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347472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2704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Что сделано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47672"/>
            <a:ext cx="306324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Проведён анализ данных, очистка, RFM-анализ и масштабирование признаков.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347472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2704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Что получили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47672"/>
            <a:ext cx="306324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Сравнили K-Means, иерархическую кластеризацию, DBSCAN и OPTICS и сформировали клиентские сегменты.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73152" cy="347472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527048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62D"/>
                </a:solidFill>
                <a:latin typeface="Arial"/>
              </a:defRPr>
            </a:pPr>
            <a:r>
              <a:t>Зачем это нужно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47672"/>
            <a:ext cx="306324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06973"/>
                </a:solidFill>
                <a:latin typeface="Arial"/>
              </a:defRPr>
            </a:pPr>
            <a:r>
              <a:t>Сегментация помогает персонализировать предложения и использовать разный подход к разным группам клиентов.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8478" y="5257800"/>
            <a:ext cx="95331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74878"/>
                </a:solidFill>
                <a:latin typeface="Arial"/>
              </a:defRPr>
            </a:pPr>
            <a:r>
              <a:rPr lang="ru-RU" dirty="0"/>
              <a:t>В</a:t>
            </a:r>
            <a:r>
              <a:rPr dirty="0" err="1" smtClean="0"/>
              <a:t>ывод</a:t>
            </a:r>
            <a:r>
              <a:rPr dirty="0"/>
              <a:t>: </a:t>
            </a:r>
            <a:r>
              <a:rPr dirty="0" err="1"/>
              <a:t>поведение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анализировать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RFM-</a:t>
            </a:r>
            <a:r>
              <a:rPr dirty="0" err="1"/>
              <a:t>признаки</a:t>
            </a:r>
            <a:r>
              <a:rPr dirty="0"/>
              <a:t> и </a:t>
            </a:r>
            <a:r>
              <a:rPr dirty="0" err="1"/>
              <a:t>кластеризацию</a:t>
            </a:r>
            <a:r>
              <a:rPr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656539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973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530</Words>
  <Application>Microsoft Office PowerPoint</Application>
  <PresentationFormat>Произвольный</PresentationFormat>
  <Paragraphs>107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Pavel Plesovskih</dc:creator>
  <dc:description>generated using python-pptx</dc:description>
  <cp:lastModifiedBy>Pavel Plesovskih</cp:lastModifiedBy>
  <cp:revision>3</cp:revision>
  <dcterms:created xsi:type="dcterms:W3CDTF">2013-01-27T09:14:16Z</dcterms:created>
  <dcterms:modified xsi:type="dcterms:W3CDTF">2026-09-26T14:38:28Z</dcterms:modified>
</cp:coreProperties>
</file>